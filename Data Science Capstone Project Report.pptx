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/blob/main/1_data-collection-api.ipynb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/blob/main/2_webscraping.ipynb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/blob/main/3_%20wrangling.ipynb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/blob/main/5_eda_data_viz.ipynb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/blob/main/4_edad-sql-coursera_sqllite.ipynb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/blob/main/6_launch_site_location.ipynb" TargetMode="External"/><Relationship Id="rId3" Type="http://schemas.openxmlformats.org/officeDocument/2006/relationships/hyperlink" Target="https://github.com/MissBiancaCh/Data-Science-Capstone-Project-Report/blob/main/spacex-dash-app.p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/blob/main/4_edad-sql-coursera_sqllite.ipynb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github.com/MissBiancaCh/Data-Science-Capstone-Project-Report/blob/main/6_launch_site_location.ipynb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github.com/MissBiancaCh/Data-Science-Capstone-Project-Report/blob/main/8_Machine%20Learning%20Prediction_Part_5.ipynb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ssBiancaCh/Data-Science-Capstone-Project-Repor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23359" y="-1325880"/>
            <a:ext cx="9509760" cy="9509760"/>
          </a:xfrm>
          <a:prstGeom prst="ellipse">
            <a:avLst/>
          </a:prstGeom>
          <a:noFill/>
          <a:ln w="15875">
            <a:solidFill>
              <a:srgbClr val="1E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137159"/>
            <a:ext cx="6583680" cy="6583680"/>
          </a:xfrm>
          <a:prstGeom prst="ellipse">
            <a:avLst/>
          </a:prstGeom>
          <a:noFill/>
          <a:ln w="15875">
            <a:solidFill>
              <a:srgbClr val="1E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26780" y="317754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DATA SCIENCE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8412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Data Science Capstone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Project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mbria"/>
              </a:rPr>
              <a:t>SpaceX Falcon 9 First Stage Landing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Bianca Nayeli Chacón Montoya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303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FA3C7"/>
                </a:solidFill>
                <a:latin typeface="Calibri"/>
              </a:rPr>
              <a:t>8 / 21 /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8064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hlinkClick r:id="rId2"/>
              </a:rPr>
              <a:t>GitHub Repository 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Methods &amp; Key Results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3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2203D"/>
                </a:solidFill>
                <a:latin typeface="Calibri"/>
              </a:rPr>
              <a:t>Data collection — </a:t>
            </a:r>
            <a:r>
              <a:rPr sz="1350" b="0" i="0">
                <a:solidFill>
                  <a:srgbClr val="12203D"/>
                </a:solidFill>
                <a:latin typeface="Calibri"/>
              </a:rPr>
              <a:t>pulled 90 Falcon 9 launch records from the SpaceX REST API</a:t>
            </a:r>
          </a:p>
          <a:p>
            <a:pPr algn="l">
              <a:spcAft>
                <a:spcPts val="1300"/>
              </a:spcAft>
            </a:pPr>
            <a:r>
              <a:rPr sz="13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2203D"/>
                </a:solidFill>
                <a:latin typeface="Calibri"/>
              </a:rPr>
              <a:t>Web scraping — </a:t>
            </a:r>
            <a:r>
              <a:rPr sz="1350" b="0" i="0">
                <a:solidFill>
                  <a:srgbClr val="12203D"/>
                </a:solidFill>
                <a:latin typeface="Calibri"/>
              </a:rPr>
              <a:t>parsed 121 historical launches from Wikipedia with BeautifulSoup</a:t>
            </a:r>
          </a:p>
          <a:p>
            <a:pPr algn="l">
              <a:spcAft>
                <a:spcPts val="1300"/>
              </a:spcAft>
            </a:pPr>
            <a:r>
              <a:rPr sz="13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2203D"/>
                </a:solidFill>
                <a:latin typeface="Calibri"/>
              </a:rPr>
              <a:t>Data wrangling — </a:t>
            </a:r>
            <a:r>
              <a:rPr sz="1350" b="0" i="0">
                <a:solidFill>
                  <a:srgbClr val="12203D"/>
                </a:solidFill>
                <a:latin typeface="Calibri"/>
              </a:rPr>
              <a:t>engineered the binary landing-success label (Class)</a:t>
            </a:r>
          </a:p>
          <a:p>
            <a:pPr algn="l">
              <a:spcAft>
                <a:spcPts val="1300"/>
              </a:spcAft>
            </a:pPr>
            <a:r>
              <a:rPr sz="13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2203D"/>
                </a:solidFill>
                <a:latin typeface="Calibri"/>
              </a:rPr>
              <a:t>EDA — </a:t>
            </a:r>
            <a:r>
              <a:rPr sz="1350" b="0" i="0">
                <a:solidFill>
                  <a:srgbClr val="12203D"/>
                </a:solidFill>
                <a:latin typeface="Calibri"/>
              </a:rPr>
              <a:t>visual analysis (seaborn/matplotlib) and SQL analysis (SQLite)</a:t>
            </a:r>
          </a:p>
          <a:p>
            <a:pPr algn="l">
              <a:spcAft>
                <a:spcPts val="1300"/>
              </a:spcAft>
            </a:pPr>
            <a:r>
              <a:rPr sz="13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2203D"/>
                </a:solidFill>
                <a:latin typeface="Calibri"/>
              </a:rPr>
              <a:t>Interactive analytics — </a:t>
            </a:r>
            <a:r>
              <a:rPr sz="1350" b="0" i="0">
                <a:solidFill>
                  <a:srgbClr val="12203D"/>
                </a:solidFill>
                <a:latin typeface="Calibri"/>
              </a:rPr>
              <a:t>a Folium launch-site map and a Plotly Dash dashboard</a:t>
            </a:r>
          </a:p>
          <a:p>
            <a:pPr algn="l">
              <a:spcAft>
                <a:spcPts val="1300"/>
              </a:spcAft>
            </a:pPr>
            <a:r>
              <a:rPr sz="13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2203D"/>
                </a:solidFill>
                <a:latin typeface="Calibri"/>
              </a:rPr>
              <a:t>Machine learning — </a:t>
            </a:r>
            <a:r>
              <a:rPr sz="1350" b="0" i="0">
                <a:solidFill>
                  <a:srgbClr val="12203D"/>
                </a:solidFill>
                <a:latin typeface="Calibri"/>
              </a:rPr>
              <a:t>tuned 4 classifiers with GridSearchCV to predict landings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91640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2" y="1819656"/>
            <a:ext cx="2121408" cy="6675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mbria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542032"/>
            <a:ext cx="21214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5"/>
                </a:solidFill>
                <a:latin typeface="Calibri"/>
              </a:rPr>
              <a:t>Falcon 9 launches analyzed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1691640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0304" y="1819656"/>
            <a:ext cx="2121408" cy="6675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mbria"/>
              </a:rPr>
              <a:t>66.7%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0304" y="2542032"/>
            <a:ext cx="21214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5"/>
                </a:solidFill>
                <a:latin typeface="Calibri"/>
              </a:rPr>
              <a:t>historical landing success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108960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3236976"/>
            <a:ext cx="2121408" cy="6675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mbria"/>
              </a:rPr>
              <a:t>83.3%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959352"/>
            <a:ext cx="21214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5"/>
                </a:solidFill>
                <a:latin typeface="Calibri"/>
              </a:rPr>
              <a:t>best model test accuracy (SVM)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25712" y="3108960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0304" y="3236976"/>
            <a:ext cx="2121408" cy="66751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3959352"/>
            <a:ext cx="21214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5"/>
                </a:solidFill>
                <a:latin typeface="Calibri"/>
              </a:rPr>
              <a:t>launch sites mapped &amp; compared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52628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6817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BOTTOM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56048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203D"/>
                </a:solidFill>
                <a:latin typeface="Calibri"/>
              </a:rPr>
              <a:t>Landing success is predictable from payload, orbit and launch-site data; a tuned SVM classifier reaches 83.3% test accuracy, giving SpaceX's competitors a data-driven way to estimate whether a first stage will be reusable — and therefore how a launch can be priced.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B6B85"/>
                </a:solidFill>
                <a:latin typeface="Calibri"/>
              </a:rPr>
              <a:t>Repository: https://github.com/MissBiancaCh/Data-Science-Capstone-Project-Report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Why Predict a Booster Landing?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49240" cy="484632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6B35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2203D"/>
                </a:solidFill>
                <a:latin typeface="Calibri"/>
              </a:rPr>
              <a:t>SpaceX advertises Falcon 9 launches at $62 million, versus $165 million+ from other providers. Much of that saving comes from reusing the first-stage booster instead of discarding it in the ocean after every flight.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2203D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2203D"/>
                </a:solidFill>
                <a:latin typeface="Calibri"/>
              </a:rPr>
              <a:t>If we can predict whether a first stage will land successfully, we can estimate the true cost of a launch — information a competitor could use when bidding against SpaceX.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6B35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4846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Predict whether the Falcon 9 first stage will land</a:t>
            </a:r>
          </a:p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FFFFFF"/>
                </a:solidFill>
                <a:latin typeface="Cambria"/>
              </a:rPr>
              <a:t>successfully, using historical launch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3375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6B35"/>
                </a:solidFill>
                <a:latin typeface="Calibri"/>
              </a:rPr>
              <a:t>PROJECT PIPELINE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3703320"/>
            <a:ext cx="347472" cy="34747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703320"/>
            <a:ext cx="347472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3685032"/>
            <a:ext cx="472744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Collect</a:t>
            </a:r>
            <a:r>
              <a:rPr sz="1150" b="0" i="0">
                <a:solidFill>
                  <a:srgbClr val="5B6B85"/>
                </a:solidFill>
                <a:latin typeface="Calibri"/>
              </a:rPr>
              <a:t>  —  SpaceX API + Wikipedia scraping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4270248"/>
            <a:ext cx="347472" cy="34747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270248"/>
            <a:ext cx="347472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4251960"/>
            <a:ext cx="472744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Wrangle</a:t>
            </a:r>
            <a:r>
              <a:rPr sz="1150" b="0" i="0">
                <a:solidFill>
                  <a:srgbClr val="5B6B85"/>
                </a:solidFill>
                <a:latin typeface="Calibri"/>
              </a:rPr>
              <a:t>  —  build the landing-success label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4837176"/>
            <a:ext cx="347472" cy="34747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837176"/>
            <a:ext cx="347472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4818888"/>
            <a:ext cx="472744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Explore</a:t>
            </a:r>
            <a:r>
              <a:rPr sz="1150" b="0" i="0">
                <a:solidFill>
                  <a:srgbClr val="5B6B85"/>
                </a:solidFill>
                <a:latin typeface="Calibri"/>
              </a:rPr>
              <a:t>  —  EDA with charts, SQL, maps &amp; dashboard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5404104"/>
            <a:ext cx="347472" cy="34747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404104"/>
            <a:ext cx="347472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5385816"/>
            <a:ext cx="472744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Predict</a:t>
            </a:r>
            <a:r>
              <a:rPr sz="1150" b="0" i="0">
                <a:solidFill>
                  <a:srgbClr val="5B6B85"/>
                </a:solidFill>
                <a:latin typeface="Calibri"/>
              </a:rPr>
              <a:t>  —  tune &amp; compare 4 ML classifiers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B6B85"/>
                </a:solidFill>
                <a:latin typeface="Calibri"/>
              </a:rPr>
              <a:t>Repository: https://github.com/MissBiancaCh/Data-Science-Capstone-Project-Report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DATA COLLECTION · SPACEX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Pulling Launch Records from the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6B35"/>
                </a:solidFill>
                <a:latin typeface="Calibri"/>
              </a:rPr>
              <a:t>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91640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1673352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GET /launches/past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fetch a consistent static snapshot of every past launch as JSON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50008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331720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json_normalize()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flatten the response into a Pandas DataFrame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08376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990088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Filter single-core/payload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keep flights with exactly one core and one payload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66744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648456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Enrich by ID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call /rockets, /launchpads, /payloads, /cores for each launch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325112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306824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Keep Falcon 9 only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drop Falcon 1 flights, renumber FlightNumber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83480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965192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Impute &amp; export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fill missing PayloadMass with the mean → dataset_part_1.csv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325880"/>
            <a:ext cx="4709160" cy="214884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4904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KEY PHRASES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82880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1828800"/>
            <a:ext cx="1783079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JSON normalize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22860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ID enrichment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22860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single-core filter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27432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mean imputation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2743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CSV export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657600"/>
            <a:ext cx="4709160" cy="242316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6600" y="38404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NETWORK 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160520"/>
            <a:ext cx="42062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7E1F5"/>
                </a:solidFill>
                <a:latin typeface="Calibri"/>
              </a:rPr>
              <a:t>The notebook demonstrates the live per-ID enrichment calls, then transparently falls back to SpaceX's official pre-collected snapshot of this exact dataset if api.spacexdata.com is unreachable — exactly as the assignment's own instructions recommend for downstream consistency.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6172200"/>
            <a:ext cx="3977639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hlinkClick r:id="rId2"/>
              </a:rPr>
              <a:t>View notebook on GitHub 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DATA COLLECTION · WEB SCRAPING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Parsing Launch History from Wikipedia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6B35"/>
                </a:solidFill>
                <a:latin typeface="Calibri"/>
              </a:rPr>
              <a:t>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91640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1673352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Request fixed revision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GET a pinned Wikipedia snapshot (9 Jun 2021) for reproducibility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50008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331720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Parse with BeautifulSoup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load the HTML response into a parse tree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08376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990088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Extract table headers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clean each &lt;th&gt; into a column name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66744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648456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Walk every launch table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iterate &lt;tr&gt;/&lt;td&gt; rows across all tables on the page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325112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306824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Clean noisy cells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strip refs/footnotes from date, mass, orbit &amp; outcome fields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83480"/>
            <a:ext cx="329184" cy="32918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32918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965192"/>
            <a:ext cx="5340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libri"/>
              </a:rPr>
              <a:t>Export</a:t>
            </a:r>
            <a:r>
              <a:rPr sz="1100" b="0" i="0">
                <a:solidFill>
                  <a:srgbClr val="5B6B85"/>
                </a:solidFill>
                <a:latin typeface="Calibri"/>
              </a:rPr>
              <a:t>  —  build a DataFrame of 121 records → spacex_web_scraped.csv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325880"/>
            <a:ext cx="4709160" cy="214884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4904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KEY PHRASES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8288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BeautifulSoup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18288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HTML table parsing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22860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regex cleanup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22860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unicode normalize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27432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121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657600"/>
            <a:ext cx="4709160" cy="242316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38404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160520"/>
            <a:ext cx="42062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7E1F5"/>
                </a:solidFill>
                <a:latin typeface="Calibri"/>
              </a:rPr>
              <a:t>Live-scraped directly against Wikipedia in this run: 121 launch records with flight number, date/time, booster version, launch site, payload, orbit, customer, and outcome — a second, independent source that cross-checks the API-collected dataset.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6172200"/>
            <a:ext cx="3977639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hlinkClick r:id="rId2"/>
              </a:rPr>
              <a:t>View notebook on GitHub 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DATA WRANGLING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From Raw Outcomes to a Training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2203D"/>
                </a:solidFill>
                <a:latin typeface="Calibri"/>
              </a:rPr>
              <a:t>Every launch record includes an Outcome string describing how (or whether) the booster landed — e.g. True ASDS, False Ocean, None None. Wrangling turns that free-text outcome into a clean binary label the ML models can learn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587752" cy="233172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" y="2523744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08960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E3F"/>
                </a:solidFill>
                <a:latin typeface="Cambria"/>
              </a:rPr>
              <a:t>Missing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74720"/>
            <a:ext cx="21854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5"/>
                </a:solidFill>
                <a:latin typeface="Calibri"/>
              </a:rPr>
              <a:t>Checked % missing per column; LandingPad keeps None (= no pad used) as a real category, not an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331720"/>
            <a:ext cx="2587752" cy="233172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2523744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56032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08960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E3F"/>
                </a:solidFill>
                <a:latin typeface="Cambria"/>
              </a:rPr>
              <a:t>Class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74720"/>
            <a:ext cx="21854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5"/>
                </a:solidFill>
                <a:latin typeface="Calibri"/>
              </a:rPr>
              <a:t>True Ocean / RTLS / ASDS → Class = 1 (success). False..., None ASDS, None None → Class = 0 (failure).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331720"/>
            <a:ext cx="2587752" cy="233172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2523744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56032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108960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E3F"/>
                </a:solidFill>
                <a:latin typeface="Cambria"/>
              </a:rPr>
              <a:t>Imputation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474720"/>
            <a:ext cx="21854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5"/>
                </a:solidFill>
                <a:latin typeface="Calibri"/>
              </a:rPr>
              <a:t>Missing PayloadMass values replaced with the column mean so no launch is dropped.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2331720"/>
            <a:ext cx="2587752" cy="233172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25712" y="2523744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256032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3108960"/>
            <a:ext cx="2185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E3F"/>
                </a:solidFill>
                <a:latin typeface="Cambria"/>
              </a:rP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3474720"/>
            <a:ext cx="21854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5"/>
                </a:solidFill>
                <a:latin typeface="Calibri"/>
              </a:rPr>
              <a:t>Result saved as dataset_part_2.csv — the base table for every EDA and ML step that follows.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92040"/>
            <a:ext cx="10908792" cy="123444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29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21808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90 Falcon 9 launches · 66.7% historical landing success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5193792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hlinkClick r:id="rId2"/>
              </a:rPr>
              <a:t>View notebook on GitHub 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· 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Charts Used &amp; What They Reveal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08791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410"/>
                <a:gridCol w="3941832"/>
                <a:gridCol w="5133549"/>
              </a:tblGrid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Chart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Categorical scatter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Flight Number × Payload Mass (hue = outcome)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does experience/payload affect landing?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Categorical scatter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Flight Number × Launch Site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how site usage evolved over time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Categorical scatter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Payload Mass × Launch Site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per-site payload capacity limits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Bar chart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Success rate by Orbit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which orbits are hardest to land from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Categorical scatter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Flight Number × Orbit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orbit adoption over the program's history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Categorical scatter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Payload Mass × Orbit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payload feasibility per orbit type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Line chart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Year × average success rate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the year-over-year improvement trend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846320"/>
            <a:ext cx="10908792" cy="128016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83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85232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203D"/>
                </a:solidFill>
                <a:latin typeface="Calibri"/>
              </a:rPr>
              <a:t>Categorical columns (Orbit, LaunchSite, LandingPad, Serial) are one-hot encoded with pd.get_dummies() and cast to float64, producing the ML-ready feature table dataset_part_3.csv.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507492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hlinkClick r:id="rId2"/>
              </a:rPr>
              <a:t>View notebook on GitHub 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·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Ten Questions Answered with SQLite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0879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360152"/>
              </a:tblGrid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Unique launch sites used in the mission history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First 5 records where the launch site begins with 'CCA'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Total payload mass carried for NASA (CRS) missions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Average payload mass carried by booster version F9 v1.1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Date of the first successful ground-pad landing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Boosters that succeeded on a drone ship with 4,000–6,000 kg payload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Total successful vs. failed mission outcomes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Booster versions that carried the maximum payload mass (subquery)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2015 drone-ship landing failures by month, booster &amp; site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2811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2203D"/>
                          </a:solidFill>
                          <a:latin typeface="Calibri"/>
                        </a:rPr>
                        <a:t>Landing outcomes ranked by count, 2010-06-04 to 2017-03-20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38160" y="6263640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hlinkClick r:id="rId2"/>
              </a:rPr>
              <a:t>View notebook on GitHub 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INTERACTIVE VISUAL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Folium Map &amp; Plotly Dash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🗺  FOLIUM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All 4 launch sites plotted with circle markers and labels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Every historical launch clustered on the map — green marker for a success, red for a failure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MousePosition tool + haversine distance formula measure proximity to coastline, access road &amp; nearest 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9496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hlinkClick r:id="rId2"/>
              </a:rPr>
              <a:t>View notebook on GitHub 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394960" cy="470916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📊  PLOTLY DASH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9377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Dropdown to filter by launch site (or view all four together)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Pie chart of success vs. failure counts, updating live with the dropdown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Range slider (0–10,000 kg) driving a payload-vs-outcome scatter plot, colored by booster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539496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hlinkClick r:id="rId3"/>
              </a:rPr>
              <a:t>View app on GitHub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RESULTS · SCATTER PLOTS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Payload Mass vs. Flight Number &amp; Launch Site</a:t>
            </a:r>
          </a:p>
        </p:txBody>
      </p:sp>
      <p:pic>
        <p:nvPicPr>
          <p:cNvPr id="4" name="Picture 3" descr="chart_flightnumber_pay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08792" cy="2123358"/>
          </a:xfrm>
          <a:prstGeom prst="rect">
            <a:avLst/>
          </a:prstGeom>
        </p:spPr>
      </p:pic>
      <p:pic>
        <p:nvPicPr>
          <p:cNvPr id="5" name="Picture 4" descr="chart_payload_launch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10908792" cy="21278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B85"/>
                </a:solidFill>
                <a:latin typeface="Calibri"/>
              </a:rPr>
              <a:t>As flight number grows the first stage lands more reliably; VAFB SLC-4E never launches payloads over ~10,000 kg.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RESULTS · SCATTER PLOTS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Launch Site &amp; Orbit vs. Flight Number</a:t>
            </a:r>
          </a:p>
        </p:txBody>
      </p:sp>
      <p:pic>
        <p:nvPicPr>
          <p:cNvPr id="4" name="Picture 3" descr="chart_flightnumber_launch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08792" cy="2125015"/>
          </a:xfrm>
          <a:prstGeom prst="rect">
            <a:avLst/>
          </a:prstGeom>
        </p:spPr>
      </p:pic>
      <p:pic>
        <p:nvPicPr>
          <p:cNvPr id="5" name="Picture 4" descr="chart_flightnumber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10908792" cy="21239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B85"/>
                </a:solidFill>
                <a:latin typeface="Calibri"/>
              </a:rPr>
              <a:t>KSC LC-39A and CCAFS SLC-40 host the more recent, higher-success flights; in LEO, success tracks flight number — in GTO it doesn't.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RESULTS · PAYLOAD VS. ORBIT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Which Orbits Tolerate Heavy Payloads?</a:t>
            </a:r>
          </a:p>
        </p:txBody>
      </p:sp>
      <p:pic>
        <p:nvPicPr>
          <p:cNvPr id="4" name="Picture 3" descr="chart_payload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08792" cy="2126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074920"/>
            <a:ext cx="10908792" cy="109728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203D"/>
                </a:solidFill>
                <a:latin typeface="Calibri"/>
              </a:rPr>
              <a:t>With heavy payloads, Polar, LEO and ISS orbits show mostly successful landings. For GTO, both outcomes appear across the full payload range — orbit alone doesn't determine success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RESULTS · SUCCESS RATE BY ORBIT &amp; BY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Bar Chart and Yearly Trend</a:t>
            </a:r>
          </a:p>
        </p:txBody>
      </p:sp>
      <p:pic>
        <p:nvPicPr>
          <p:cNvPr id="4" name="Picture 3" descr="chart_orbit_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49239" cy="3335408"/>
          </a:xfrm>
          <a:prstGeom prst="rect">
            <a:avLst/>
          </a:prstGeom>
        </p:spPr>
      </p:pic>
      <p:pic>
        <p:nvPicPr>
          <p:cNvPr id="5" name="Picture 4" descr="chart_yearly_succes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49239" cy="3335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WITH SQL · RESULTS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Launch Sites &amp; Payload Mass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470916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Q1 · UNIQUE LAUNCH SITES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56231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CCAFS LC-40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13431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CCAFS SLC-40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70631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KSC LC-39A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27831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VAFB SLC-4E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Q2 · FIRST 5 RECORDS AT 'CCA%' SITES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4096512"/>
          <a:ext cx="47548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624"/>
                <a:gridCol w="1584960"/>
                <a:gridCol w="1479296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Booster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Payload (kg)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2010-06-04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B0003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2010-12-08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B0004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2012-05-22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B0005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525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2012-10-08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B0006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2013-03-01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B0007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 i="0">
                          <a:solidFill>
                            <a:srgbClr val="12203D"/>
                          </a:solidFill>
                          <a:latin typeface="Calibri"/>
                        </a:rPr>
                        <a:t>677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26480" y="137160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Q3 · TOTAL NASA (CRS)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45,596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974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Q4 · AVERAGE PAYLOAD, BOOSTER F9 v1.1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2,534.67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947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Q8 · MAXIMUM PAYLOAD EVER CARRIED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06908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15,600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6634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AEBEDD"/>
                </a:solidFill>
                <a:latin typeface="Calibri"/>
              </a:rPr>
              <a:t>— tied among 12 different F9 B5 boosters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5394960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hlinkClick r:id="rId2"/>
              </a:rPr>
              <a:t>Run these queries on GitHub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WITH SQL · RESULTS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Landing Milestones &amp; Outcome Rankings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Q5 · FIRST SUCCESSFUL GROUND-PAD LANDING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2015-12-22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Q7 · MISSION OUTCOMES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337560"/>
          <a:ext cx="52120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</a:tblGrid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Mission Outcome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Failure (in flight)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Success (payload status unclear)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7548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Q6 · DRONE-SHIP SUCCESSES, 4,000–6,000 KG 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47488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203D"/>
                </a:solidFill>
                <a:latin typeface="Calibri"/>
              </a:rPr>
              <a:t>F9 FT B1021.2 · B1022 · B1026 · B1031.2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Q10 · LANDING OUTCOMES RANKED, 2010-06-04 → 2017-03-20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26480" y="1691640"/>
          <a:ext cx="5440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508760"/>
              </a:tblGrid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Landing Outcome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No attempt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Success (drone ship)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Failure (drone ship)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Success (ground pad)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Controlled (ocean)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Uncontrolled (ocean)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Failure (parachute)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Precluded (drone ship)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220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EDA WITH SQL · RESULTS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2015 Drone-Ship Failures — Time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Q9 · MONTH, BOOSTER &amp; SITE FOR EVERY 2015 DRONE-SHIP FAILURE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0879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108960"/>
                <a:gridCol w="2770632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Landing Outcome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Booster Version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Launch Site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2203D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2203D"/>
                          </a:solidFill>
                          <a:latin typeface="Calibri"/>
                        </a:rPr>
                        <a:t>Failure (drone ship)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2203D"/>
                          </a:solidFill>
                          <a:latin typeface="Calibri"/>
                        </a:rPr>
                        <a:t>F9 v1.1 B1012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2203D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2203D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2203D"/>
                          </a:solidFill>
                          <a:latin typeface="Calibri"/>
                        </a:rPr>
                        <a:t>Failure (drone ship)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2203D"/>
                          </a:solidFill>
                          <a:latin typeface="Calibri"/>
                        </a:rPr>
                        <a:t>F9 v1.1 B1015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2203D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520440"/>
            <a:ext cx="10908792" cy="256032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READING 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2203D"/>
                </a:solidFill>
                <a:latin typeface="Calibri"/>
              </a:rPr>
              <a:t>Both 2015 drone-ship attempts failed, and both flew the earlier F9 v1.1 booster from the same CCAFS LC-40 pad — well before SpaceX's first successful ground-pad landing that December. This SQL query pinpoints exactly when and on what hardware the drone-ship landing technique was still unproven, which lines up with the rising success-rate trend seen in the EDA charts from 2013 onward.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FOLIUM MAP · RESULTS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Launch Sites &amp; Launch Records</a:t>
            </a:r>
          </a:p>
        </p:txBody>
      </p:sp>
      <p:pic>
        <p:nvPicPr>
          <p:cNvPr id="4" name="Picture 3" descr="map_launch_sit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035039" cy="41574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B6B85"/>
                </a:solidFill>
                <a:latin typeface="Calibri"/>
              </a:rPr>
              <a:t>Marker size = number of launches · color = success rate (red → green)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3720" y="1417320"/>
          <a:ext cx="466343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955"/>
                <a:gridCol w="1187057"/>
                <a:gridCol w="1441426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Launch Site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Launches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Success rate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KSC LC-39A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76.9%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CCAFS SLC-40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42.9%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VAFB SLC-4E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CCAFS LC-40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2203D"/>
                          </a:solidFill>
                          <a:latin typeface="Calibri"/>
                        </a:rPr>
                        <a:t>26.9%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3611880"/>
            <a:ext cx="4663440" cy="246888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37947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MARKER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114800"/>
            <a:ext cx="4206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2203D"/>
                </a:solidFill>
                <a:latin typeface="Calibri"/>
              </a:rPr>
              <a:t>Every one of the 90 API-collected launches is plotted at its exact site coordinates, colored green for a successful landing and red for a failure, and grouped into clusters that expand as you zoom in — so the full mission history is visible at a glance.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6263640"/>
            <a:ext cx="4663440" cy="3657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  <a:hlinkClick r:id="rId3"/>
              </a:rPr>
              <a:t>Open the interactive map on GitHub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FOLIUM MAP · RESULTS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Proximity Analysis — CCAFS SLC-40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2203D"/>
                </a:solidFill>
                <a:latin typeface="Calibri"/>
              </a:rPr>
              <a:t>Using the map's MousePosition readout and the haversine formula, we measured the straight-line distance from the launch pad to its nearest coastline, access road, and town: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322576"/>
            <a:ext cx="3099816" cy="126187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mbria"/>
              </a:rPr>
              <a:t>0.51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639312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5"/>
                </a:solidFill>
                <a:latin typeface="Calibri"/>
              </a:rPr>
              <a:t>to the nearest coastline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1945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322576"/>
            <a:ext cx="3099816" cy="126187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mbria"/>
              </a:rPr>
              <a:t>0.58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3639312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5"/>
                </a:solidFill>
                <a:latin typeface="Calibri"/>
              </a:rPr>
              <a:t>to Samuel C. Phillips Pkwy (highway)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19456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2322576"/>
            <a:ext cx="3099816" cy="126187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Cambria"/>
              </a:rPr>
              <a:t>17.72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3639312"/>
            <a:ext cx="309981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5"/>
                </a:solidFill>
                <a:latin typeface="Calibri"/>
              </a:rPr>
              <a:t>to Cape Canaveral, FL (nearest city)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10908792" cy="173736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28032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4EAF6"/>
                </a:solidFill>
                <a:latin typeface="Calibri"/>
              </a:rPr>
              <a:t>Launch pads sit under 1 km from both the ocean and their access road — close enough for efficient logistics — while staying over 17 km from the nearest town, keeping the public well clear of the blast radius. Every SpaceX site follows this same coastal, low-latitude pattern for the same reasons: safety for failed launches and a rotational-speed boost from being near the equator.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PLOTLY DASH · RESULTS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Success Pie Charts</a:t>
            </a:r>
          </a:p>
        </p:txBody>
      </p:sp>
      <p:pic>
        <p:nvPicPr>
          <p:cNvPr id="4" name="Picture 3" descr="dash_pie_all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49240" cy="3820885"/>
          </a:xfrm>
          <a:prstGeom prst="rect">
            <a:avLst/>
          </a:prstGeom>
        </p:spPr>
      </p:pic>
      <p:pic>
        <p:nvPicPr>
          <p:cNvPr id="5" name="Picture 4" descr="dash_pie_k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349240" cy="38208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57784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42432"/>
            <a:ext cx="10424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203D"/>
                </a:solidFill>
                <a:latin typeface="Calibri"/>
              </a:rPr>
              <a:t>KSC LC-39A leads on both counts: it has the most successful launches (10) and the highest success rate (76.9%) of any 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PLOTLY DASH · RESULTS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Payload vs. Launch Outcome</a:t>
            </a:r>
          </a:p>
        </p:txBody>
      </p:sp>
      <p:pic>
        <p:nvPicPr>
          <p:cNvPr id="4" name="Picture 3" descr="dash_scatter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32" y="1417320"/>
            <a:ext cx="6419088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166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DASHBOARD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2,000–4,000 kg payloads land most reliably (61.9% success)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6,000–8,000 kg payloads never landed successfully in this dataset (0%)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12203D"/>
                </a:solidFill>
                <a:latin typeface="Calibri"/>
              </a:rPr>
              <a:t>Booster version B5 has a perfect 100% landing success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PREDICTIVE ANALYSIS ·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Four Classifiers, Tuned with GridSearchCV</a:t>
            </a:r>
          </a:p>
        </p:txBody>
      </p:sp>
      <p:pic>
        <p:nvPicPr>
          <p:cNvPr id="4" name="Picture 3" descr="chart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394960" cy="350464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640" y="1600200"/>
          <a:ext cx="53035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5159"/>
                <a:gridCol w="746974"/>
                <a:gridCol w="821672"/>
                <a:gridCol w="2539713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CV Acc.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Test Acc.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Best hyperparameters</a:t>
                      </a:r>
                    </a:p>
                  </a:txBody>
                  <a:tcPr marL="76200" marR="76200" marT="50800" marB="50800" anchor="ctr">
                    <a:solidFill>
                      <a:srgbClr val="0B1E3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84.8%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kernel=sigmoid, C=1, γ=0.032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83.4%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k=6, p=1, algorithm=auto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83.4%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72.2%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gini, max_depth=10</a:t>
                      </a:r>
                    </a:p>
                  </a:txBody>
                  <a:tcPr marL="76200" marR="76200" marT="38100" marB="38100" anchor="ctr">
                    <a:solidFill>
                      <a:srgbClr val="EFF3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Logistic Reg.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82.1%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2203D"/>
                          </a:solidFill>
                          <a:latin typeface="Calibri"/>
                        </a:rPr>
                        <a:t>C=1, penalty=l2, lbfgs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63640" y="402336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4187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6B35"/>
                </a:solidFill>
                <a:latin typeface="Calibri"/>
              </a:rPr>
              <a:t>BEST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462272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Support Vector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98348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D7E1F5"/>
                </a:solidFill>
                <a:latin typeface="Calibri"/>
              </a:rPr>
              <a:t>Highest cross-validated accuracy (84.8%) among all four tuned models, with a sigmoid kernel found via grid search over kernel, C and gamma.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PREDICTIVE ANALYSIS · BEST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mbria"/>
              </a:rPr>
              <a:t>SVM Confusion Matrix &amp; Evaluation</a:t>
            </a:r>
          </a:p>
        </p:txBody>
      </p:sp>
      <p:pic>
        <p:nvPicPr>
          <p:cNvPr id="4" name="Picture 3" descr="cm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4937760" cy="42163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417320"/>
            <a:ext cx="5623560" cy="4754880"/>
          </a:xfrm>
          <a:prstGeom prst="roundRect">
            <a:avLst>
              <a:gd name="adj" fmla="val 6000"/>
            </a:avLst>
          </a:prstGeom>
          <a:solidFill>
            <a:srgbClr val="EFF3FA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1627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READING THE CONFUSION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11680"/>
            <a:ext cx="51206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00" b="1" i="0">
                <a:solidFill>
                  <a:srgbClr val="12203D"/>
                </a:solidFill>
                <a:latin typeface="Calibri"/>
              </a:rPr>
              <a:t>Recall on landings: 100% — </a:t>
            </a:r>
            <a:r>
              <a:rPr sz="1300" b="0" i="0">
                <a:solidFill>
                  <a:srgbClr val="12203D"/>
                </a:solidFill>
                <a:latin typeface="Calibri"/>
              </a:rPr>
              <a:t>the model correctly caught all 12 successful landings in the 18-launch test set.</a:t>
            </a:r>
          </a:p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00" b="1" i="0">
                <a:solidFill>
                  <a:srgbClr val="12203D"/>
                </a:solidFill>
                <a:latin typeface="Calibri"/>
              </a:rPr>
              <a:t>False positives: 3 — </a:t>
            </a:r>
            <a:r>
              <a:rPr sz="1300" b="0" i="0">
                <a:solidFill>
                  <a:srgbClr val="12203D"/>
                </a:solidFill>
                <a:latin typeface="Calibri"/>
              </a:rPr>
              <a:t>its only errors were predicting a landing on 3 flights that actually failed.</a:t>
            </a:r>
          </a:p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00" b="1" i="0">
                <a:solidFill>
                  <a:srgbClr val="12203D"/>
                </a:solidFill>
                <a:latin typeface="Calibri"/>
              </a:rPr>
              <a:t>False negatives: 0 — </a:t>
            </a:r>
            <a:r>
              <a:rPr sz="1300" b="0" i="0">
                <a:solidFill>
                  <a:srgbClr val="12203D"/>
                </a:solidFill>
                <a:latin typeface="Calibri"/>
              </a:rPr>
              <a:t>it never missed a real successful landing.</a:t>
            </a:r>
          </a:p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300" b="1" i="0">
                <a:solidFill>
                  <a:srgbClr val="12203D"/>
                </a:solidFill>
                <a:latin typeface="Calibri"/>
              </a:rPr>
              <a:t>Test accuracy: 83.3% — </a:t>
            </a:r>
            <a:r>
              <a:rPr sz="1300" b="0" i="0">
                <a:solidFill>
                  <a:srgbClr val="12203D"/>
                </a:solidFill>
                <a:latin typeface="Calibri"/>
              </a:rPr>
              <a:t>15 of 18 held-out launches correctly classified.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502920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B85"/>
                </a:solidFill>
                <a:latin typeface="Calibri"/>
              </a:rPr>
              <a:t>For a competitor estimating launch cost, this bias toward optimism (never missing a real landing, occasionally over-predicting one) is the safer failure mode — it avoids underestimating SpaceX's reusability advantage.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6053328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  <a:hlinkClick r:id="rId3"/>
              </a:rPr>
              <a:t>View notebook on GitHub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5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CONCLUSION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What We Learned —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577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40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400" b="1" i="0">
                <a:solidFill>
                  <a:srgbClr val="F4F7FC"/>
                </a:solidFill>
                <a:latin typeface="Calibri"/>
              </a:rPr>
              <a:t>Landing success is learnable. </a:t>
            </a:r>
            <a:r>
              <a:rPr sz="1400" b="0" i="0">
                <a:solidFill>
                  <a:srgbClr val="F4F7FC"/>
                </a:solidFill>
                <a:latin typeface="Calibri"/>
              </a:rPr>
              <a:t>Payload mass, orbit, launch site and flight number carry enough signal for an 83.3% accurate predictor.</a:t>
            </a:r>
          </a:p>
          <a:p>
            <a:pPr algn="l">
              <a:spcAft>
                <a:spcPts val="1600"/>
              </a:spcAft>
            </a:pPr>
            <a:r>
              <a:rPr sz="140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400" b="1" i="0">
                <a:solidFill>
                  <a:srgbClr val="F4F7FC"/>
                </a:solidFill>
                <a:latin typeface="Calibri"/>
              </a:rPr>
              <a:t>Experience compounds. </a:t>
            </a:r>
            <a:r>
              <a:rPr sz="1400" b="0" i="0">
                <a:solidFill>
                  <a:srgbClr val="F4F7FC"/>
                </a:solidFill>
                <a:latin typeface="Calibri"/>
              </a:rPr>
              <a:t>Success rate climbed from near-zero in 2013 to over 80% by 2020 as SpaceX iterated on the landing process.</a:t>
            </a:r>
          </a:p>
          <a:p>
            <a:pPr algn="l">
              <a:spcAft>
                <a:spcPts val="1600"/>
              </a:spcAft>
            </a:pPr>
            <a:r>
              <a:rPr sz="1400" b="1" i="0">
                <a:solidFill>
                  <a:srgbClr val="FF6B35"/>
                </a:solidFill>
                <a:latin typeface="Calibri"/>
              </a:rPr>
              <a:t>›  </a:t>
            </a:r>
            <a:r>
              <a:rPr sz="1400" b="1" i="0">
                <a:solidFill>
                  <a:srgbClr val="F4F7FC"/>
                </a:solidFill>
                <a:latin typeface="Calibri"/>
              </a:rPr>
              <a:t>Site and orbit matter as much as hardware. </a:t>
            </a:r>
            <a:r>
              <a:rPr sz="1400" b="0" i="0">
                <a:solidFill>
                  <a:srgbClr val="F4F7FC"/>
                </a:solidFill>
                <a:latin typeface="Calibri"/>
              </a:rPr>
              <a:t>KSC LC-39A (76.9%) and 2,000–4,000 kg / LEO-ISS payloads consistently out-land the rest.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0020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132A52"/>
          </a:solidFill>
          <a:ln w="9525">
            <a:solidFill>
              <a:srgbClr val="244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8288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💡  A CREATIVE 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240280"/>
            <a:ext cx="46177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1F5"/>
                </a:solidFill>
                <a:latin typeface="Calibri"/>
              </a:rPr>
              <a:t>Build a "reusability index" — combining Block version, ReusedCount and launch-site success history into a single feature — and feed it back into the SVM. Paired with the Dash dashboard, a competitor could quote a real-time, per-mission cost estimate the moment a customer specifies payload mass and target orbit, instead of relying on SpaceX's published price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94960"/>
            <a:ext cx="10908792" cy="1051560"/>
          </a:xfrm>
          <a:prstGeom prst="roundRect">
            <a:avLst>
              <a:gd name="adj" fmla="val 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B1E3F"/>
                </a:solidFill>
                <a:latin typeface="Calibri"/>
              </a:rPr>
              <a:t>Bottom line: a data-driven pipeline — from a public API and Wikipedia to a tuned SVM — turns SpaceX's reusability advantage into a number any competitor can act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EBED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90064" y="-777239"/>
            <a:ext cx="8412480" cy="8412480"/>
          </a:xfrm>
          <a:prstGeom prst="ellipse">
            <a:avLst/>
          </a:prstGeom>
          <a:noFill/>
          <a:ln w="15875">
            <a:solidFill>
              <a:srgbClr val="1E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61664" y="594359"/>
            <a:ext cx="5669280" cy="5669280"/>
          </a:xfrm>
          <a:prstGeom prst="ellipse">
            <a:avLst/>
          </a:prstGeom>
          <a:noFill/>
          <a:ln w="15875">
            <a:solidFill>
              <a:srgbClr val="1E3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21984" y="31546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6052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9204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CADCFC"/>
                </a:solidFill>
                <a:latin typeface="Calibri"/>
              </a:rPr>
              <a:t>Data Science Capstone Project Report · SpaceX Falcon 9 First Stage Landing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904" y="5532120"/>
            <a:ext cx="6400800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hlinkClick r:id="rId2"/>
              </a:rPr>
              <a:t>github.com/MissBiancaCh/Data-Science-Capstone-Project-Report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5992" y="6473952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EBED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